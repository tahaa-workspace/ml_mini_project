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House Rent Prediction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MC03094121 — Machine Learning</a:t>
            </a:r>
          </a:p>
          <a:p>
            <a:pPr>
              <a:spcAft>
                <a:spcPts val="1000"/>
              </a:spcAft>
              <a:defRPr sz="2400"/>
            </a:pPr>
            <a:r>
              <a:t>MCA Department, Sardar Vallabhbhai Patel Institute of Technology, Vasad</a:t>
            </a:r>
          </a:p>
          <a:p>
            <a:pPr>
              <a:spcAft>
                <a:spcPts val="1000"/>
              </a:spcAft>
              <a:defRPr sz="2400"/>
            </a:pPr>
            <a:r>
              <a:t>Regression-based prediction of monthly house 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Predict the monthly rent of a house/apartment from its available property characteristics.</a:t>
            </a:r>
          </a:p>
          <a:p>
            <a:pPr>
              <a:spcAft>
                <a:spcPts val="1000"/>
              </a:spcAft>
              <a:defRPr sz="2000"/>
            </a:pPr>
            <a:r>
              <a:t>Relevant information includes size, BHK, bathrooms, city, floor, furnishing status and tenant preference.</a:t>
            </a:r>
          </a:p>
          <a:p>
            <a:pPr>
              <a:spcAft>
                <a:spcPts val="1000"/>
              </a:spcAft>
              <a:defRPr sz="2000"/>
            </a:pPr>
            <a:r>
              <a:t>Expected output: a numerical predicted monthly 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a real-world regression problem.</a:t>
            </a:r>
          </a:p>
          <a:p>
            <a:pPr>
              <a:spcAft>
                <a:spcPts val="1000"/>
              </a:spcAft>
              <a:defRPr sz="2000"/>
            </a:pPr>
            <a:r>
              <a:t>Clean and preprocess mixed numerical and categorical data.</a:t>
            </a:r>
          </a:p>
          <a:p>
            <a:pPr>
              <a:spcAft>
                <a:spcPts val="1000"/>
              </a:spcAft>
              <a:defRPr sz="2000"/>
            </a:pPr>
            <a:r>
              <a:t>Perform EDA using the required graphs.</a:t>
            </a:r>
          </a:p>
          <a:p>
            <a:pPr>
              <a:spcAft>
                <a:spcPts val="1000"/>
              </a:spcAft>
              <a:defRPr sz="2000"/>
            </a:pPr>
            <a:r>
              <a:t>Select meaningful features and compare four regression algorithms.</a:t>
            </a:r>
          </a:p>
          <a:p>
            <a:pPr>
              <a:spcAft>
                <a:spcPts val="1000"/>
              </a:spcAft>
              <a:defRPr sz="2000"/>
            </a:pPr>
            <a:r>
              <a:t>Evaluate models using MAE, MSE, RMSE and R².</a:t>
            </a:r>
          </a:p>
          <a:p>
            <a:pPr>
              <a:spcAft>
                <a:spcPts val="1000"/>
              </a:spcAft>
              <a:defRPr sz="2000"/>
            </a:pPr>
            <a:r>
              <a:t>Provide a simple prediction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4,746 records × 12 columns.</a:t>
            </a:r>
          </a:p>
          <a:p>
            <a:pPr>
              <a:spcAft>
                <a:spcPts val="1000"/>
              </a:spcAft>
              <a:defRPr sz="2000"/>
            </a:pPr>
            <a:r>
              <a:t>Target variable: Rent.</a:t>
            </a:r>
          </a:p>
          <a:p>
            <a:pPr>
              <a:spcAft>
                <a:spcPts val="1000"/>
              </a:spcAft>
              <a:defRPr sz="2000"/>
            </a:pPr>
            <a:r>
              <a:t>Numerical: BHK, Rent, Size, Bathroom.</a:t>
            </a:r>
          </a:p>
          <a:p>
            <a:pPr>
              <a:spcAft>
                <a:spcPts val="1000"/>
              </a:spcAft>
              <a:defRPr sz="2000"/>
            </a:pPr>
            <a:r>
              <a:t>Categorical/textual: Floor, Area Type, Area Locality, City, Furnishing Status, Tenant Preferred, Point of Contact, Posted On.</a:t>
            </a:r>
          </a:p>
          <a:p>
            <a:pPr>
              <a:spcAft>
                <a:spcPts val="1000"/>
              </a:spcAft>
              <a:defRPr sz="2000"/>
            </a:pPr>
            <a:r>
              <a:t>No missing values and no duplicate records.</a:t>
            </a:r>
          </a:p>
          <a:p>
            <a:pPr>
              <a:spcAft>
                <a:spcPts val="1000"/>
              </a:spcAft>
              <a:defRPr sz="2000"/>
            </a:pPr>
            <a:r>
              <a:t>Area Locality has 2,235 unique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Parsed Floor into Floor Number and Total Floors.</a:t>
            </a:r>
          </a:p>
          <a:p>
            <a:pPr>
              <a:spcAft>
                <a:spcPts val="1000"/>
              </a:spcAft>
              <a:defRPr sz="1800"/>
            </a:pPr>
            <a:r>
              <a:t>Detected two logically inconsistent floor records and treated their parsed values as missing.</a:t>
            </a:r>
          </a:p>
          <a:p>
            <a:pPr>
              <a:spcAft>
                <a:spcPts val="1000"/>
              </a:spcAft>
              <a:defRPr sz="1800"/>
            </a:pPr>
            <a:r>
              <a:t>Extracted month and day-of-week from Posted On.</a:t>
            </a:r>
          </a:p>
          <a:p>
            <a:pPr>
              <a:spcAft>
                <a:spcPts val="1000"/>
              </a:spcAft>
              <a:defRPr sz="1800"/>
            </a:pPr>
            <a:r>
              <a:t>One-hot encoded categorical variables.</a:t>
            </a:r>
          </a:p>
          <a:p>
            <a:pPr>
              <a:spcAft>
                <a:spcPts val="1000"/>
              </a:spcAft>
              <a:defRPr sz="1800"/>
            </a:pPr>
            <a:r>
              <a:t>Standardized numerical features.</a:t>
            </a:r>
          </a:p>
          <a:p>
            <a:pPr>
              <a:spcAft>
                <a:spcPts val="1000"/>
              </a:spcAft>
              <a:defRPr sz="1800"/>
            </a:pPr>
            <a:r>
              <a:t>High-rent observations were not automatically removed because they may represent genuine expensive properties.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Exploratory Data Analysis</a:t>
            </a:r>
          </a:p>
        </p:txBody>
      </p:sp>
      <p:pic>
        <p:nvPicPr>
          <p:cNvPr id="3" name="Picture 2" descr="01_rent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566160" cy="2228850"/>
          </a:xfrm>
          <a:prstGeom prst="rect">
            <a:avLst/>
          </a:prstGeom>
        </p:spPr>
      </p:pic>
      <p:pic>
        <p:nvPicPr>
          <p:cNvPr id="4" name="Picture 3" descr="02_city_b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97280"/>
            <a:ext cx="3566160" cy="2228850"/>
          </a:xfrm>
          <a:prstGeom prst="rect">
            <a:avLst/>
          </a:prstGeom>
        </p:spPr>
      </p:pic>
      <p:pic>
        <p:nvPicPr>
          <p:cNvPr id="5" name="Picture 4" descr="03_size_rent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0"/>
            <a:ext cx="3566160" cy="2228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Required graphs: histogram, bar chart, scatter plot, box plot and correlation heatmap.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Selected: BHK, Size, Floor Number, Total Floors, Area Type, City, Furnishing Status, Tenant Preferred, Bathroom, Posted Month, Posted Day of Week.</a:t>
            </a:r>
          </a:p>
          <a:p>
            <a:pPr>
              <a:spcAft>
                <a:spcPts val="1000"/>
              </a:spcAft>
              <a:defRPr sz="1800"/>
            </a:pPr>
            <a:r>
              <a:t>Removed Point of Contact because it is contact information rather than a property-price feature.</a:t>
            </a:r>
          </a:p>
          <a:p>
            <a:pPr>
              <a:spcAft>
                <a:spcPts val="1000"/>
              </a:spcAft>
              <a:defRPr sz="1800"/>
            </a:pPr>
            <a:r>
              <a:t>Removed Area Locality for this basic project because 2,235 unique values create very high cardinality.</a:t>
            </a:r>
          </a:p>
          <a:p>
            <a:pPr>
              <a:spcAft>
                <a:spcPts val="1000"/>
              </a:spcAft>
              <a:defRPr sz="1800"/>
            </a:pPr>
            <a:r>
              <a:t>Raw Floor and Posted On were transformed into more useful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ML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Linear Regression — simple baseline.</a:t>
            </a:r>
          </a:p>
          <a:p>
            <a:pPr>
              <a:spcAft>
                <a:spcPts val="1000"/>
              </a:spcAft>
              <a:defRPr sz="1900"/>
            </a:pPr>
            <a:r>
              <a:t>Decision Tree Regressor — captures non-linear rules.</a:t>
            </a:r>
          </a:p>
          <a:p>
            <a:pPr>
              <a:spcAft>
                <a:spcPts val="1000"/>
              </a:spcAft>
              <a:defRPr sz="1900"/>
            </a:pPr>
            <a:r>
              <a:t>Random Forest Regressor — ensemble of decision trees.</a:t>
            </a:r>
          </a:p>
          <a:p>
            <a:pPr>
              <a:spcAft>
                <a:spcPts val="1000"/>
              </a:spcAft>
              <a:defRPr sz="1900"/>
            </a:pPr>
            <a:r>
              <a:t>Gradient Boosting Regressor — sequentially improves errors.</a:t>
            </a:r>
          </a:p>
          <a:p>
            <a:pPr>
              <a:spcAft>
                <a:spcPts val="1000"/>
              </a:spcAft>
              <a:defRPr sz="1900"/>
            </a:pPr>
            <a:r>
              <a:t>All four are regression algorithms because Rent is continuous.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Workflow: Dataset → Preprocessing → Train-Test Split → Training → Prediction → Evaluation</a:t>
            </a:r>
          </a:p>
          <a:p>
            <a:pPr>
              <a:spcAft>
                <a:spcPts val="1000"/>
              </a:spcAft>
              <a:defRPr sz="1900"/>
            </a:pPr>
            <a:r>
              <a:t>X = selected input features</a:t>
            </a:r>
          </a:p>
          <a:p>
            <a:pPr>
              <a:spcAft>
                <a:spcPts val="1000"/>
              </a:spcAft>
              <a:defRPr sz="1900"/>
            </a:pPr>
            <a:r>
              <a:t>y = Rent</a:t>
            </a:r>
          </a:p>
          <a:p>
            <a:pPr>
              <a:spcAft>
                <a:spcPts val="1000"/>
              </a:spcAft>
              <a:defRPr sz="1900"/>
            </a:pPr>
            <a:r>
              <a:t>80% training data / 20% testing data</a:t>
            </a:r>
          </a:p>
          <a:p>
            <a:pPr>
              <a:spcAft>
                <a:spcPts val="1000"/>
              </a:spcAft>
              <a:defRPr sz="1900"/>
            </a:pPr>
            <a:r>
              <a:t>random_state = 42</a:t>
            </a:r>
          </a:p>
          <a:p>
            <a:pPr>
              <a:spcAft>
                <a:spcPts val="1000"/>
              </a:spcAft>
              <a:defRPr sz="1900"/>
            </a:pPr>
            <a:r>
              <a:t>fit() learns from training data; predict() estimates rent for unseen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&amp;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2588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766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₹21,903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1.912×10⁹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₹43,727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0.520</a:t>
                      </a:r>
                    </a:p>
                  </a:txBody>
                  <a:tcPr/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₹14,189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1.660×10⁹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₹40,744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0.583</a:t>
                      </a:r>
                    </a:p>
                  </a:txBody>
                  <a:tcPr/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₹12,469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1.318×10⁹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₹36,304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0.669</a:t>
                      </a:r>
                    </a:p>
                  </a:txBody>
                  <a:tcPr/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₹11,242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1.353×10⁹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₹36,788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Selected: Random Forest based on strongest R² and lowest RMSE in this experiment.</a:t>
            </a:r>
          </a:p>
          <a:p>
            <a:pPr>
              <a:spcAft>
                <a:spcPts val="1000"/>
              </a:spcAft>
              <a:defRPr sz="1500"/>
            </a:pPr>
            <a:r>
              <a:t>Gradient Boosting has the lowest MAE, so the metric priority should be stated explicitly.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An end-to-end house-rent regression workflow was implemented.</a:t>
            </a:r>
          </a:p>
          <a:p>
            <a:pPr>
              <a:spcAft>
                <a:spcPts val="1000"/>
              </a:spcAft>
              <a:defRPr sz="1800"/>
            </a:pPr>
            <a:r>
              <a:t>Four models were compared using the required regression metrics.</a:t>
            </a:r>
          </a:p>
          <a:p>
            <a:pPr>
              <a:spcAft>
                <a:spcPts val="1000"/>
              </a:spcAft>
              <a:defRPr sz="1800"/>
            </a:pPr>
            <a:r>
              <a:t>Random Forest was selected using R² and RMSE as the primary criteria.</a:t>
            </a:r>
          </a:p>
          <a:p>
            <a:pPr>
              <a:spcAft>
                <a:spcPts val="1000"/>
              </a:spcAft>
              <a:defRPr sz="1800"/>
            </a:pPr>
            <a:r>
              <a:t>Future: cross-validation, hyperparameter tuning, improved locality encoding, richer geographic features, larger/current datasets and rent transformation.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Open the Streamlit application.</a:t>
            </a:r>
          </a:p>
          <a:p>
            <a:pPr>
              <a:spcAft>
                <a:spcPts val="1000"/>
              </a:spcAft>
              <a:defRPr sz="2100"/>
            </a:pPr>
            <a:r>
              <a:t>Enter BHK, size, floor, area type, city, furnishing status, tenant preference and bathrooms.</a:t>
            </a:r>
          </a:p>
          <a:p>
            <a:pPr>
              <a:spcAft>
                <a:spcPts val="1000"/>
              </a:spcAft>
              <a:defRPr sz="2100"/>
            </a:pPr>
            <a:r>
              <a:t>Click “Predict Rent”.</a:t>
            </a:r>
          </a:p>
          <a:p>
            <a:pPr>
              <a:spcAft>
                <a:spcPts val="1000"/>
              </a:spcAft>
              <a:defRPr sz="2100"/>
            </a:pPr>
            <a:r>
              <a:t>The saved Random Forest model returns the predicted monthly rent.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